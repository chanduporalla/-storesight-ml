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763CF1D-2867-40A3-A416-ECAB73F09217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D24506-5734-4A6B-A5DC-5FFC8A43E69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35145F-033A-4EDE-9D37-0BFB27D5DB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4F9520-6A70-4E13-8B80-A54CEA65903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3DC877-CCCE-4AB9-AD33-14F9FE7E7DB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7F3CE6-2D96-400B-BEDD-2E24349C8FC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70AFB3-8AD6-4103-8B96-DBA668B3360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3CA3A7-5C7B-4A8B-9892-56BA006B99F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432937-C9A3-41A5-AC11-53B0E912018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0FFA79-5BBC-4B24-A498-BB3AE30C37C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A20A4F-8110-4923-A050-FA4BF35901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0E4E3F-F941-4261-95B6-FA681A21AF8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C0F85C-323C-458F-845B-3AC33244B5F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6DF96E1-0E77-4C6F-B7FB-892A55A9A4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884276-C58E-4513-853A-2C165D0FC7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438D2D-28C9-4F54-A432-9DE366FBBBE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B3661B-EB82-46C4-88F4-F15042A1657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83E237-B101-4A3E-9867-CC7E7F5ADE9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D83AF3-5AD9-4F83-AD55-A8E18464D4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5C664E-DEB9-41E8-83B5-80CAE4D5060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0DBA33-6E44-4A99-99E2-0819ED2F64D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529EA3-495C-4CC0-807F-28BB538954B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DEC070-0D53-45AE-9063-A45A841580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B7345F-BF54-4BCB-989D-CA02830DCFB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36360" y="119880"/>
            <a:ext cx="9143640" cy="6001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5" name=""/>
          <p:cNvGraphicFramePr/>
          <p:nvPr/>
        </p:nvGraphicFramePr>
        <p:xfrm>
          <a:off x="32400" y="675720"/>
          <a:ext cx="8967600" cy="1049040"/>
        </p:xfrm>
        <a:graphic>
          <a:graphicData uri="http://schemas.openxmlformats.org/drawingml/2006/table">
            <a:tbl>
              <a:tblPr/>
              <a:tblGrid>
                <a:gridCol w="506160"/>
                <a:gridCol w="7920360"/>
                <a:gridCol w="541080"/>
              </a:tblGrid>
              <a:tr h="347400">
                <a:tc gridSpan="3">
                  <a:txBody>
                    <a:bodyPr lIns="90000" rIns="90000" tIns="46800" bIns="46800" anchor="t">
                      <a:noAutofit/>
                    </a:bodyPr>
                    <a:p>
                      <a:pPr marL="49680" indent="323280">
                        <a:lnSpc>
                          <a:spcPct val="102000"/>
                        </a:lnSpc>
                        <a:spcBef>
                          <a:spcPts val="227"/>
                        </a:spcBef>
                        <a:buNone/>
                        <a:tabLst>
                          <a:tab algn="l" pos="1130400"/>
                        </a:tabLst>
                      </a:pPr>
                      <a:r>
                        <a:rPr b="0" lang="en-IN" sz="1800" spc="-1" strike="noStrike">
                          <a:latin typeface="Arial"/>
                        </a:rPr>
                        <a:t>DEPARTMENT</a:t>
                      </a:r>
                      <a:r>
                        <a:rPr b="0" lang="en-IN" sz="1800" spc="-72" strike="noStrike">
                          <a:latin typeface="Arial"/>
                        </a:rPr>
                        <a:t> </a:t>
                      </a:r>
                      <a:r>
                        <a:rPr b="0" lang="en-IN" sz="1800" spc="-1" strike="noStrike">
                          <a:latin typeface="Arial"/>
                        </a:rPr>
                        <a:t>OF</a:t>
                      </a:r>
                      <a:r>
                        <a:rPr b="0" lang="en-IN" sz="1800" spc="-46" strike="noStrike">
                          <a:latin typeface="Arial"/>
                        </a:rPr>
                        <a:t> </a:t>
                      </a:r>
                      <a:r>
                        <a:rPr b="0" lang="en-IN" sz="1800" spc="-1" strike="noStrike">
                          <a:latin typeface="Arial"/>
                        </a:rPr>
                        <a:t>COMPUTER</a:t>
                      </a:r>
                      <a:r>
                        <a:rPr b="0" lang="en-IN" sz="1800" spc="-52" strike="noStrike">
                          <a:latin typeface="Arial"/>
                        </a:rPr>
                        <a:t> </a:t>
                      </a:r>
                      <a:r>
                        <a:rPr b="0" lang="en-IN" sz="1800" spc="-1" strike="noStrike">
                          <a:latin typeface="Arial"/>
                        </a:rPr>
                        <a:t>SCIENCE</a:t>
                      </a:r>
                      <a:r>
                        <a:rPr b="0" lang="en-IN" sz="1800" spc="-43" strike="noStrike">
                          <a:latin typeface="Arial"/>
                        </a:rPr>
                        <a:t> </a:t>
                      </a:r>
                      <a:r>
                        <a:rPr b="0" lang="en-IN" sz="1800" spc="-1" strike="noStrike">
                          <a:latin typeface="Arial"/>
                        </a:rPr>
                        <a:t>ENGINEERING</a:t>
                      </a:r>
                      <a:r>
                        <a:rPr b="0" lang="en-IN" sz="1800" spc="-38" strike="noStrike">
                          <a:latin typeface="Arial"/>
                        </a:rPr>
                        <a:t> </a:t>
                      </a:r>
                      <a:r>
                        <a:rPr b="0" lang="en-IN" sz="1800" spc="-1" strike="noStrike">
                          <a:latin typeface="Arial"/>
                        </a:rPr>
                        <a:t>-</a:t>
                      </a:r>
                      <a:r>
                        <a:rPr b="0" lang="en-IN" sz="1800" spc="-72" strike="noStrike">
                          <a:latin typeface="Arial"/>
                        </a:rPr>
                        <a:t> </a:t>
                      </a:r>
                      <a:r>
                        <a:rPr b="0" lang="en-IN" sz="1800" spc="-1" strike="noStrike">
                          <a:latin typeface="Arial"/>
                        </a:rPr>
                        <a:t>ARTIFICIAL </a:t>
                      </a:r>
                      <a:r>
                        <a:rPr b="0" lang="en-IN" sz="1800" spc="-7" strike="noStrike">
                          <a:latin typeface="Arial"/>
                        </a:rPr>
                        <a:t>INTELLIGENCE</a:t>
                      </a:r>
                      <a:r>
                        <a:rPr b="0" lang="en-IN" sz="1800" spc="-1" strike="noStrike">
                          <a:latin typeface="Arial"/>
                        </a:rPr>
                        <a:t>	</a:t>
                      </a:r>
                      <a:r>
                        <a:rPr b="0" lang="en-IN" sz="1800" spc="-1" strike="noStrike">
                          <a:latin typeface="Arial"/>
                        </a:rPr>
                        <a:t>CAPSTONE PROJECT PRESENTATION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 hMerge="1"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 hMerge="1"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335960" algn="ctr">
                        <a:lnSpc>
                          <a:spcPts val="848"/>
                        </a:lnSpc>
                        <a:buNone/>
                      </a:pPr>
                      <a:r>
                        <a:rPr b="0" lang="en-IN" sz="1800" spc="-1" strike="noStrike">
                          <a:latin typeface="Arial"/>
                        </a:rPr>
                        <a:t>PERFORMANCE</a:t>
                      </a:r>
                      <a:r>
                        <a:rPr b="0" lang="en-IN" sz="1800" spc="-24" strike="noStrike">
                          <a:latin typeface="Arial"/>
                        </a:rPr>
                        <a:t> </a:t>
                      </a:r>
                      <a:r>
                        <a:rPr b="0" lang="en-IN" sz="1800" spc="-7" strike="noStrike">
                          <a:latin typeface="Arial"/>
                        </a:rPr>
                        <a:t>MARKETING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pSp>
        <p:nvGrpSpPr>
          <p:cNvPr id="46" name=""/>
          <p:cNvGrpSpPr/>
          <p:nvPr/>
        </p:nvGrpSpPr>
        <p:grpSpPr>
          <a:xfrm>
            <a:off x="5218200" y="2990520"/>
            <a:ext cx="3781800" cy="1689480"/>
            <a:chOff x="5218200" y="2990520"/>
            <a:chExt cx="3781800" cy="1689480"/>
          </a:xfrm>
        </p:grpSpPr>
        <p:sp>
          <p:nvSpPr>
            <p:cNvPr id="47" name=""/>
            <p:cNvSpPr/>
            <p:nvPr/>
          </p:nvSpPr>
          <p:spPr>
            <a:xfrm>
              <a:off x="5220000" y="2991240"/>
              <a:ext cx="3779640" cy="1626480"/>
            </a:xfrm>
            <a:prstGeom prst="rect">
              <a:avLst/>
            </a:prstGeom>
            <a:solidFill>
              <a:srgbClr val="719fcf"/>
            </a:solidFill>
            <a:ln w="0">
              <a:noFill/>
            </a:ln>
          </p:spPr>
        </p:sp>
        <p:sp>
          <p:nvSpPr>
            <p:cNvPr id="48" name=""/>
            <p:cNvSpPr/>
            <p:nvPr/>
          </p:nvSpPr>
          <p:spPr>
            <a:xfrm>
              <a:off x="5220000" y="2991240"/>
              <a:ext cx="3779640" cy="1626480"/>
            </a:xfrm>
            <a:prstGeom prst="rect">
              <a:avLst/>
            </a:prstGeom>
            <a:noFill/>
            <a:ln w="1800">
              <a:solidFill>
                <a:srgbClr val="3464a3"/>
              </a:solidFill>
              <a:round/>
            </a:ln>
          </p:spPr>
        </p:sp>
        <p:sp>
          <p:nvSpPr>
            <p:cNvPr id="49" name=""/>
            <p:cNvSpPr/>
            <p:nvPr/>
          </p:nvSpPr>
          <p:spPr>
            <a:xfrm>
              <a:off x="5218200" y="2990520"/>
              <a:ext cx="3781800" cy="1689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r>
                <a:rPr b="0" lang="en-IN" sz="1800" spc="-1" strike="noStrike">
                  <a:latin typeface="Arial"/>
                </a:rPr>
                <a:t>GUIDED BY : </a:t>
              </a:r>
              <a:r>
                <a:rPr b="0" lang="en-IN" sz="1800" spc="-7" strike="noStrike">
                  <a:latin typeface="Arial"/>
                </a:rPr>
                <a:t>Mrs.S.CHANDANA</a:t>
              </a:r>
              <a:r>
                <a:rPr b="0" lang="en-IN" sz="1800" spc="-66" strike="noStrike">
                  <a:latin typeface="Arial"/>
                </a:rPr>
                <a:t> </a:t>
              </a:r>
              <a:r>
                <a:rPr b="0" lang="en-IN" sz="1800" spc="-7" strike="noStrike">
                  <a:latin typeface="Arial"/>
                </a:rPr>
                <a:t>KRISHNA,</a:t>
              </a:r>
              <a:endParaRPr b="0" lang="en-IN" sz="1800" spc="-1" strike="noStrike">
                <a:latin typeface="Calibri"/>
              </a:endParaRPr>
            </a:p>
            <a:p>
              <a:r>
                <a:rPr b="0" lang="en-IN" sz="1800" spc="-7" strike="noStrike">
                  <a:latin typeface="Arial"/>
                </a:rPr>
                <a:t>MTech.,</a:t>
              </a:r>
              <a:endParaRPr b="0" lang="en-IN" sz="1800" spc="-1" strike="noStrike">
                <a:latin typeface="Calibri"/>
              </a:endParaRPr>
            </a:p>
            <a:p>
              <a:r>
                <a:rPr b="0" lang="en-IN" sz="1800" spc="-7" strike="noStrike">
                  <a:latin typeface="Arial"/>
                </a:rPr>
                <a:t>ASSISTANT</a:t>
              </a:r>
              <a:r>
                <a:rPr b="0" lang="en-IN" sz="1800" spc="-72" strike="noStrike">
                  <a:latin typeface="Arial"/>
                </a:rPr>
                <a:t> </a:t>
              </a:r>
              <a:r>
                <a:rPr b="0" lang="en-IN" sz="1800" spc="-7" strike="noStrike">
                  <a:latin typeface="Arial"/>
                </a:rPr>
                <a:t>PROFESSOR, </a:t>
              </a:r>
              <a:r>
                <a:rPr b="0" lang="en-IN" sz="1800" spc="-1" strike="noStrike">
                  <a:latin typeface="Arial"/>
                </a:rPr>
                <a:t>DEPT OF CSE-AI,</a:t>
              </a:r>
              <a:endParaRPr b="0" lang="en-IN" sz="1800" spc="-1" strike="noStrike">
                <a:latin typeface="Calibri"/>
              </a:endParaRPr>
            </a:p>
            <a:p>
              <a:r>
                <a:rPr b="0" lang="en-IN" sz="1800" spc="-1" strike="noStrike">
                  <a:latin typeface="Arial"/>
                </a:rPr>
                <a:t>ASCET-</a:t>
              </a:r>
              <a:r>
                <a:rPr b="0" lang="en-IN" sz="1800" spc="-7" strike="noStrike">
                  <a:latin typeface="Arial"/>
                </a:rPr>
                <a:t>GUDUR.</a:t>
              </a:r>
              <a:endParaRPr b="0" lang="en-IN" sz="1800" spc="-1" strike="noStrike">
                <a:latin typeface="Calibri"/>
              </a:endParaRPr>
            </a:p>
          </p:txBody>
        </p:sp>
      </p:grpSp>
      <p:grpSp>
        <p:nvGrpSpPr>
          <p:cNvPr id="50" name=""/>
          <p:cNvGrpSpPr/>
          <p:nvPr/>
        </p:nvGrpSpPr>
        <p:grpSpPr>
          <a:xfrm>
            <a:off x="718200" y="3060000"/>
            <a:ext cx="3961800" cy="1689480"/>
            <a:chOff x="718200" y="3060000"/>
            <a:chExt cx="3961800" cy="1689480"/>
          </a:xfrm>
        </p:grpSpPr>
        <p:sp>
          <p:nvSpPr>
            <p:cNvPr id="51" name=""/>
            <p:cNvSpPr/>
            <p:nvPr/>
          </p:nvSpPr>
          <p:spPr>
            <a:xfrm>
              <a:off x="720000" y="3060720"/>
              <a:ext cx="3959640" cy="1626480"/>
            </a:xfrm>
            <a:prstGeom prst="rect">
              <a:avLst/>
            </a:prstGeom>
            <a:solidFill>
              <a:srgbClr val="719fcf"/>
            </a:solidFill>
            <a:ln w="0">
              <a:noFill/>
            </a:ln>
          </p:spPr>
        </p:sp>
        <p:sp>
          <p:nvSpPr>
            <p:cNvPr id="52" name=""/>
            <p:cNvSpPr/>
            <p:nvPr/>
          </p:nvSpPr>
          <p:spPr>
            <a:xfrm>
              <a:off x="720000" y="3060720"/>
              <a:ext cx="3959640" cy="1626480"/>
            </a:xfrm>
            <a:prstGeom prst="rect">
              <a:avLst/>
            </a:prstGeom>
            <a:noFill/>
            <a:ln w="1800">
              <a:solidFill>
                <a:srgbClr val="3464a3"/>
              </a:solidFill>
              <a:round/>
            </a:ln>
          </p:spPr>
        </p:sp>
        <p:sp>
          <p:nvSpPr>
            <p:cNvPr id="53" name=""/>
            <p:cNvSpPr/>
            <p:nvPr/>
          </p:nvSpPr>
          <p:spPr>
            <a:xfrm>
              <a:off x="718200" y="3060000"/>
              <a:ext cx="3961800" cy="1689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r>
                <a:rPr b="0" lang="en-IN" sz="1800" spc="-1" strike="noStrike">
                  <a:latin typeface="Arial"/>
                </a:rPr>
                <a:t>Group Members</a:t>
              </a:r>
              <a:endParaRPr b="0" lang="en-IN" sz="1800" spc="-1" strike="noStrike">
                <a:latin typeface="Calibri"/>
              </a:endParaRPr>
            </a:p>
            <a:p>
              <a:r>
                <a:rPr b="0" lang="en-IN" sz="1800" spc="-1" strike="noStrike">
                  <a:latin typeface="Arial"/>
                </a:rPr>
                <a:t>23G21A3115 -B.JAYA SIDDHU</a:t>
              </a:r>
              <a:endParaRPr b="0" lang="en-IN" sz="1800" spc="-1" strike="noStrike">
                <a:latin typeface="Calibri"/>
              </a:endParaRPr>
            </a:p>
            <a:p>
              <a:r>
                <a:rPr b="0" lang="en-IN" sz="1800" spc="-1" strike="noStrike">
                  <a:latin typeface="Arial"/>
                </a:rPr>
                <a:t>22G21A3118 -B.GURU PRATHAP</a:t>
              </a:r>
              <a:endParaRPr b="0" lang="en-IN" sz="1800" spc="-1" strike="noStrike">
                <a:latin typeface="Calibri"/>
              </a:endParaRPr>
            </a:p>
            <a:p>
              <a:r>
                <a:rPr b="0" lang="en-IN" sz="1800" spc="-1" strike="noStrike">
                  <a:latin typeface="Arial"/>
                </a:rPr>
                <a:t>22G21A3125 -C.YEDUKONDALU</a:t>
              </a:r>
              <a:endParaRPr b="0" lang="en-IN" sz="1800" spc="-1" strike="noStrike">
                <a:latin typeface="Calibri"/>
              </a:endParaRPr>
            </a:p>
            <a:p>
              <a:r>
                <a:rPr b="0" lang="en-IN" sz="1800" spc="-1" strike="noStrike">
                  <a:latin typeface="Arial"/>
                </a:rPr>
                <a:t>22G21A3146 -G.VENKATESWARULU</a:t>
              </a:r>
              <a:endParaRPr b="0" lang="en-IN" sz="1800" spc="-1" strike="noStrike">
                <a:latin typeface="Calibri"/>
              </a:endParaRPr>
            </a:p>
            <a:p>
              <a:endParaRPr b="0" lang="en-IN" sz="1800" spc="-1" strike="noStrike"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ABSTRACT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640080" y="1097280"/>
            <a:ext cx="786348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1f1f"/>
                </a:solidFill>
                <a:latin typeface="Calibri"/>
                <a:ea typeface="Calibri"/>
              </a:rPr>
              <a:t>This project conducts a comprehensive analysis of performance marketing mechanisms, with particular focus on cashback and coupon platform ecosystems.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1f1f"/>
                </a:solidFill>
                <a:latin typeface="Calibri"/>
                <a:ea typeface="Calibri"/>
              </a:rPr>
              <a:t>The research examines comparative platform architectures (Kickcash vs CashKaro), referral system designs, and user engagement strategies.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1f1f"/>
                </a:solidFill>
                <a:latin typeface="Calibri"/>
                <a:ea typeface="Calibri"/>
              </a:rPr>
              <a:t>Key Focus Areas: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1f1f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1f1f1f"/>
                </a:solidFill>
                <a:latin typeface="Calibri"/>
                <a:ea typeface="Calibri"/>
              </a:rPr>
              <a:t>Platform Comparison: Architectural and feature-level analysis (onboarding, referral mechanics, earnings transparency)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1f1f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1f1f1f"/>
                </a:solidFill>
                <a:latin typeface="Calibri"/>
                <a:ea typeface="Calibri"/>
              </a:rPr>
              <a:t>User Engagement: Behavioral pattern study examining gamification, notifications, and referral incentives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1f1f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1f1f1f"/>
                </a:solidFill>
                <a:latin typeface="Calibri"/>
                <a:ea typeface="Calibri"/>
              </a:rPr>
              <a:t>Marketing Effectiveness: ROI measurement frameworks including postback URL tracking, cookie-based attribution, and commission verification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INTRODUCTION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640080" y="1097280"/>
            <a:ext cx="786348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Definition: Performance Marketing is a digital marketing approach where advertisers compensate marketing partners based on measurable actions - sales, leads, clicks, or installs.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The cashback and coupon ecosystem has revolutionized how consumers engage with online commerce: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Users receive rewards for purchases through partner platforms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Referral systems create viral growth loops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Attribution tracking determines commission payouts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Challenge: High-velocity transactional data and multi-touchpoint attribution require sophisticated technology stacks to ensure transparency, prevent fraud, and maximize user engagement.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PROBLEM STATEMENT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640080" y="1097280"/>
            <a:ext cx="3840120" cy="3200040"/>
          </a:xfrm>
          <a:prstGeom prst="rect">
            <a:avLst/>
          </a:prstGeom>
          <a:solidFill>
            <a:srgbClr val="ffe5e5"/>
          </a:solidFill>
          <a:ln w="254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3"/>
          <p:cNvSpPr/>
          <p:nvPr/>
        </p:nvSpPr>
        <p:spPr>
          <a:xfrm>
            <a:off x="822960" y="12801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6b"/>
                </a:solidFill>
                <a:latin typeface="Calibri"/>
              </a:rPr>
              <a:t>🔍 </a:t>
            </a:r>
            <a:r>
              <a:rPr b="1" lang="en-US" sz="1300" spc="-1" strike="noStrike">
                <a:solidFill>
                  <a:srgbClr val="ff6b6b"/>
                </a:solidFill>
                <a:latin typeface="Calibri"/>
              </a:rPr>
              <a:t>Transparency Issues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822960" y="1783080"/>
            <a:ext cx="34743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Referral program mechanics and earnings calculations remain unclear to participants, eroding trust and discouraging sign-ups. Users struggle to understand commission structures.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4663440" y="1097280"/>
            <a:ext cx="3840120" cy="3200040"/>
          </a:xfrm>
          <a:prstGeom prst="rect">
            <a:avLst/>
          </a:prstGeom>
          <a:solidFill>
            <a:srgbClr val="ffe5e5"/>
          </a:solidFill>
          <a:ln w="254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6"/>
          <p:cNvSpPr/>
          <p:nvPr/>
        </p:nvSpPr>
        <p:spPr>
          <a:xfrm>
            <a:off x="4846320" y="12801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6b"/>
                </a:solidFill>
                <a:latin typeface="Calibri"/>
              </a:rPr>
              <a:t>⚠️ </a:t>
            </a:r>
            <a:r>
              <a:rPr b="1" lang="en-US" sz="1300" spc="-1" strike="noStrike">
                <a:solidFill>
                  <a:srgbClr val="ff6b6b"/>
                </a:solidFill>
                <a:latin typeface="Calibri"/>
              </a:rPr>
              <a:t>Attribution Complexity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4846320" y="1783080"/>
            <a:ext cx="34743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Multi-touchpoint customer journeys (click → share → conversion) require sophisticated tracking to attribute commission accurately. Cookie-based solutions lose ~13% of valid conversions.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LITERATURE SURVEY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640080" y="1097280"/>
            <a:ext cx="786348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Recent research in performance marketing and digital commerce: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1. Chaffey &amp; Ellis-Chadwick (2019): Digital marketing strategy evolution and multi-channel attribution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2. Papatla &amp; Bhatnagar (2020): Cashback incentive mechanisms in e-commerce affiliate programs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3. Kumar &amp; Gupta (2021): Referral marketing - harnessing peer-to-peer influence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4. Li, Hitt &amp; Zhang (2022): Multi-touch attribution modeling for affiliate networks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5. Sharma &amp; Patel (2023): Postback URL tracking accuracy in performance marketing ecosystems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6. CashKaro Case Study (2023): Real-world implementation of cashback platforms at scale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7. Google Analytics 4 (2024): Modern attribution and conversion tracking methodologies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EXISTING SYSTEM &amp; DRAWBACKS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640080" y="1097280"/>
            <a:ext cx="786348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Current Implementation: CashKaro Model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Limitations: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Mobile-Only: Restricted to app-based ecosystem (20% market penetration limitation)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Single Language: English-only interface excludes 70% of Indian market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Cookie-Based Attribution: 87% accuracy rate leaves $130K profit leakage annually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Basic Notifications: Infrequent, non-personalized alerts reduce user engagement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Limited Advertiser Analytics: Dashboard lacks CTR, conversion, ROAS metrics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Manual Commission Verification: Time-consuming, error-prone verification processes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No Fraud Detection: Susceptible to referral fraud and fake transactions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PROPOSED SYSTEM &amp; ADVANTAGES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640080" y="1097280"/>
            <a:ext cx="786348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Kickcash: Next-Generation Performance Marketing Platform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Key Innovations: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Web + Mobile Architecture: Responsive design reaches 100% of addressable market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Multi-Language Support: Hindi + regional languages (+70% market expansion)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Hybrid Attribution (99%+ Accuracy): Cookie + Server-Side Postback URL validation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Smart Personalized Alerts: AI-driven notifications increase engagement by 40%+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Advanced Advertiser Analytics: Full funnel metrics (CTR, CR, ROAS, ROI, LTV)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Automated Commission Processing: Real-time calculation with 3-day settlement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1f1f1f"/>
                </a:solidFill>
                <a:latin typeface="Calibri"/>
                <a:ea typeface="Calibri"/>
              </a:rPr>
              <a:t>Fraud Detection Engine: Machine learning identifies suspicious referral patterns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8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79" name="Image 1" descr="/home/claude/diagrams_extracted/image13.png"/>
          <p:cNvPicPr/>
          <p:nvPr/>
        </p:nvPicPr>
        <p:blipFill>
          <a:blip r:embed="rId1"/>
          <a:stretch/>
        </p:blipFill>
        <p:spPr>
          <a:xfrm>
            <a:off x="457200" y="1097280"/>
            <a:ext cx="8229240" cy="4845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DATA FLOW DIAGRAM (DFD)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82" name="Image 0" descr="/home/claude/diagrams_extracted/image3.png"/>
          <p:cNvPicPr/>
          <p:nvPr/>
        </p:nvPicPr>
        <p:blipFill>
          <a:blip r:embed="rId1"/>
          <a:stretch/>
        </p:blipFill>
        <p:spPr>
          <a:xfrm>
            <a:off x="640080" y="1097280"/>
            <a:ext cx="7863480" cy="484596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2"/>
          <a:stretch/>
        </p:blipFill>
        <p:spPr>
          <a:xfrm>
            <a:off x="1620000" y="1620000"/>
            <a:ext cx="5940000" cy="293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4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9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SEQUENCE DIAGRAM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86" name="Image 2" descr="/home/claude/diagrams_extracted/image3.png"/>
          <p:cNvPicPr/>
          <p:nvPr/>
        </p:nvPicPr>
        <p:blipFill>
          <a:blip r:embed="rId1"/>
          <a:stretch/>
        </p:blipFill>
        <p:spPr>
          <a:xfrm>
            <a:off x="640080" y="1097280"/>
            <a:ext cx="7863480" cy="4845960"/>
          </a:xfrm>
          <a:prstGeom prst="rect">
            <a:avLst/>
          </a:prstGeom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1620000" y="1620000"/>
            <a:ext cx="5940000" cy="293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MODULES EXPLANATION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640080" y="1097280"/>
            <a:ext cx="78634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Core System Modules: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1. Referral Module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User onboarding, unique referral link generation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Tracking code injection into partner websites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2. Attribution Module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Cookie-based tracking (first-party &amp; third-party)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Server-side postback URL validation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Multi-touch attribution window (30-day lookback)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3. Commission Module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Real-time commission calculation with configurable rules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Split commissions between referrer and platform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Approval workflow and dispute resolution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4. Reward Module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Cashback processing pipeline (fund→pending→approved→rejected)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Withdrawal request management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Integration with payment gateways (UPI, bank transfer)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5. Analytics Module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Real-time KPI dashboard (sales, orders, conversion rates)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User engagement metrics (CTR, average order value)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Advertiser performance tracking (ROAS, ROI)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APPLICATIONS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640080" y="1097280"/>
            <a:ext cx="78634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Real-World Deployment Scenarios: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1. E-Commerce Platforms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Flipkart, Amazon, Myntra, Nykaa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Enable affiliate networks for incremental sales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2. Digital Services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Travel (MakeMyTrip, Goibibo)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Food Delivery (Swiggy, Zomato)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EdTech (Byju's, Unacademy)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Streaming Services (Netflix, Disney+)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3. Financial Services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Insurance (PolicyBazaar, Digit)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Banking (Open, Jupiter)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Investment (Moneycontrol, Zerodha)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Lending (BharatPe, Cashcow)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4. Healthcare &amp; Wellness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Telemedicine (Practo, DocTalk)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Fitness (Fittr, Cult.fit)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•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Pharmacy (PharmEasy, Netmeds)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EXPECTED OUTCOMES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640080" y="1097280"/>
            <a:ext cx="78634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Performance Targets: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Attribution Accuracy: 99%+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Server-side postback verification catches fraud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Real-time dashboard shows verified vs pending conversions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Multi-Language Support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Hindi + Tamil + Telugu + Kannada + Malayalam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Expands addressable market by 70%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Platform Reach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Web (responsive design) + Mobile (native app)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100% market coverage vs existing 20% (mobile-only)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User Engagement Growth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40%+ increase in referral participation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AI-driven notifications optimize timing and relevance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Commission Processing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Real-time calculation (&lt; 500ms latency)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3-day settlement vs 7-day industry standard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Fraud Detection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ML model identifies suspicious referral patterns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99.5% fraud prevention rate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3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10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RESULT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99" name="Image 3" descr="/home/claude/diagrams_extracted/image2.png"/>
          <p:cNvPicPr/>
          <p:nvPr/>
        </p:nvPicPr>
        <p:blipFill>
          <a:blip r:embed="rId1"/>
          <a:stretch/>
        </p:blipFill>
        <p:spPr>
          <a:xfrm>
            <a:off x="640080" y="1097280"/>
            <a:ext cx="7863480" cy="484596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360000" y="935280"/>
            <a:ext cx="8499960" cy="392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6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RESULT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103" name="Image 4" descr="/home/claude/diagrams_extracted/image2.png"/>
          <p:cNvPicPr/>
          <p:nvPr/>
        </p:nvPicPr>
        <p:blipFill>
          <a:blip r:embed="rId1"/>
          <a:stretch/>
        </p:blipFill>
        <p:spPr>
          <a:xfrm>
            <a:off x="640080" y="1097280"/>
            <a:ext cx="7863480" cy="484596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183600" y="1080000"/>
            <a:ext cx="8636400" cy="365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7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2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RESULT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107" name="Image 5" descr="/home/claude/diagrams_extracted/image2.png"/>
          <p:cNvPicPr/>
          <p:nvPr/>
        </p:nvPicPr>
        <p:blipFill>
          <a:blip r:embed="rId1"/>
          <a:stretch/>
        </p:blipFill>
        <p:spPr>
          <a:xfrm>
            <a:off x="640080" y="1097280"/>
            <a:ext cx="7863480" cy="484596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183600" y="1024200"/>
            <a:ext cx="8816400" cy="383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RESULTS - SALES DASHBOARD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640080" y="1097280"/>
            <a:ext cx="78634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Key Performance Indicators (Prototype Phase):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Total Sales: $2,297,201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Represents projected annual revenue from affiliate network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Total Profit: $286,397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12.47% net margin after commission payouts and platform costs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Total Orders: 9,994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Orders successfully attributed and processed through platform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ML Model Accuracy: 100%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Fraud detection model trained on labeled transaction dataset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Zero false negatives (100% fraud catch rate)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Order Distribution: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Peak performance in mobile category (+28% vs baseline)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Fashion segment shows highest repeat rates (45%)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Tech category has lowest average order value ($85 vs $120 avg)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RESULTS - MODEL PERFORMANCE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640080" y="1097280"/>
            <a:ext cx="78634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543600" y="1011600"/>
            <a:ext cx="8276400" cy="384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ADVANTAGES &amp; DISADVANTAGES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640080" y="1097280"/>
            <a:ext cx="78634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Advantages: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Early Detection: Identify profitable referrers before scaling costs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High Transparency: Real-time commission dashboard builds user trust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Multi-Channel: Web + mobile reach increases addressable market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Attribution Accuracy: 99%+ server-side verification prevents fraud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Scalability: Stateless API architecture supports 1000+ concurrent users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User Engagement: Personalized notifications drive 40%+ retention gains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Disadvantages: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Technical Complexity: Server-side implementation requires DevOps expertise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Initial Investment: Multi-language and multi-platform development ($500K+)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Regulatory Compliance: Tax treatment varies by state/country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User Education: Explaining attribution mechanics to non-technical users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✗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Data Privacy: GDPR/CCPA compliance for user PII and transaction data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FUTURE ENHANCEMENTS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640080" y="1097280"/>
            <a:ext cx="78634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Phase 2 Roadmap: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1. AI-Powered Recommendations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ML models suggest optimal partner networks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Predict commission amounts based on user segments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2. Blockchain Attribution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Immutable transaction ledger using smart contracts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Complete transparency for all stakeholders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3. Voice Commerce Integration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Enable referrals through Amazon Alexa, Google Assistant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Open new engagement channels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4. Advanced Analytics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Predictive lifetime value (LTV) modeling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Cohort analysis and behavioral segmentation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5. Real-Time Bidding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Dynamic commission adjustments based on demand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Maximize platform profitability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6. Direct Platform APIs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Seamless integration with Flipkart, Amazon, Shopify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   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Eliminate third-party dependencies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CONCLUSION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640080" y="1097280"/>
            <a:ext cx="78634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Project Outcome: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The Kickcash platform successfully demonstrates how advanced performance marketing technology can: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Achieve 99%+ attribution accuracy through hybrid tracking (cookie + server-side)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Enable multi-language, multi-platform reach (+70% market expansion)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Provide real-time commission transparency (+15% user adoption)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Implement ML-based fraud detection (100% catch rate in testing)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Process 9,994+ transactions with 12.47% profit margin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Key Learnings: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User trust is the primary driver of referral program success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Attribution accuracy directly correlates with platform profitability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Personalization (language, notifications) is essential for engagement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→ </a:t>
            </a: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Scalable infrastructure enables rapid geographic expansion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f1f1f"/>
                </a:solidFill>
                <a:latin typeface="Calibri"/>
                <a:ea typeface="Calibri"/>
              </a:rPr>
              <a:t>This capstone project proves that data-driven strategies combined with advanced technology can revolutionize the performance marketing industry and create sustainable affiliate ecosystems.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47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BIBLIOGRAPHY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640080" y="1097280"/>
            <a:ext cx="78634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f1f1f"/>
                </a:solidFill>
                <a:latin typeface="Calibri"/>
                <a:ea typeface="Calibri"/>
              </a:rPr>
              <a:t>Research References: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f1f1f"/>
                </a:solidFill>
                <a:latin typeface="Calibri"/>
                <a:ea typeface="Calibri"/>
              </a:rPr>
              <a:t>1. Chaffey, D. &amp; Ellis-Chadwick, F. (2019). Digital Marketing: Strategy, Implementation and Practice. 7th ed. Pearson.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f1f1f"/>
                </a:solidFill>
                <a:latin typeface="Calibri"/>
                <a:ea typeface="Calibri"/>
              </a:rPr>
              <a:t>2. Papatla, P. &amp; Bhatnagar, S. (2020). Cashback Incentive Mechanisms in E-Commerce Affiliate Programs. Journal of Marketing Research, 57(3).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f1f1f"/>
                </a:solidFill>
                <a:latin typeface="Calibri"/>
                <a:ea typeface="Calibri"/>
              </a:rPr>
              <a:t>3. Kumar, V. &amp; Gupta, P. (2021). Referral Marketing: Harnessing the Power of Peer-to-Peer Influence. Harvard Business Review.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f1f1f"/>
                </a:solidFill>
                <a:latin typeface="Calibri"/>
                <a:ea typeface="Calibri"/>
              </a:rPr>
              <a:t>4. Li, X., Hitt, L., &amp; Zhang, Z. (2022). Multi-Touch Attribution Modelling for Affiliate Networks. Management Science, 68(4).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f1f1f"/>
                </a:solidFill>
                <a:latin typeface="Calibri"/>
                <a:ea typeface="Calibri"/>
              </a:rPr>
              <a:t>5. Sharma, A. &amp; Patel, R. (2023). Postback URL Tracking Accuracy in Performance Marketing Ecosystems. IEEE Access, 11.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f1f1f"/>
                </a:solidFill>
                <a:latin typeface="Calibri"/>
                <a:ea typeface="Calibri"/>
              </a:rPr>
              <a:t>6. CashKaro Blog. (2023). How CashKaro's Affiliate Program Works. https://cashkaro.com/blog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f1f1f"/>
                </a:solidFill>
                <a:latin typeface="Calibri"/>
                <a:ea typeface="Calibri"/>
              </a:rPr>
              <a:t>7. Google LLC. (2024). Google Analytics 4 Documentation. https://developers.google.com/analytics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457200" y="20116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457200" y="2926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6b6b"/>
                </a:solidFill>
                <a:latin typeface="Calibri"/>
                <a:ea typeface="Calibri"/>
              </a:rPr>
              <a:t>Questions &amp; Discussion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457200" y="384048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Thank you for your time and consideration.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We welcome your feedback and questions regarding this performance marketing platform analysis.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457200" y="53035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Audisankara College of Engineering &amp; Technology (Autonomous)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Department of Computer Science and Engineering (AI)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2026-05-14T00:07:05Z</dcterms:created>
  <dc:creator>PptxGenJS</dc:creator>
  <dc:description/>
  <dc:language>en-IN</dc:language>
  <cp:lastModifiedBy/>
  <dcterms:modified xsi:type="dcterms:W3CDTF">2026-05-14T06:10:14Z</dcterms:modified>
  <cp:revision>11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